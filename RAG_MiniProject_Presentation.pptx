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Helvetica Neue"/>
              </a:rPr>
              <a:t>TIES 4911  ·  2026  ·  MiniProject Option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Helvetica Neue"/>
              </a:rPr>
              <a:t>RAG Q&amp;A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C46A"/>
                </a:solidFill>
                <a:latin typeface="Helvetica Neue"/>
              </a:rPr>
              <a:t>Deep Learning Knowledge Base
with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Amine Bahous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0789920" cy="1325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132588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C46A"/>
                </a:solidFill>
                <a:latin typeface="Helvetica Neue"/>
              </a:rPr>
              <a:t>Outdated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  <a:latin typeface="Helvetica Neue"/>
              </a:rPr>
              <a:t>LLMs have a training cutoff — they cannot answer about recent or domain-specific topics.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39"/>
            <a:ext cx="10789920" cy="1325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834639"/>
            <a:ext cx="64008" cy="132588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44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C46A"/>
                </a:solidFill>
                <a:latin typeface="Helvetica Neue"/>
              </a:rPr>
              <a:t>Hallucinations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7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  <a:latin typeface="Helvetica Neue"/>
              </a:rPr>
              <a:t>Models confidently generate plausible but incorrect information with no grounding.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10789920" cy="13258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64008" cy="132588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4988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C46A"/>
                </a:solidFill>
                <a:latin typeface="Helvetica Neue"/>
              </a:rPr>
              <a:t>No domain 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5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  <a:latin typeface="Helvetica Neue"/>
              </a:rPr>
              <a:t>General-purpose LLMs lack expertise in specialized fields without expensive retraining.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Solution —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8888"/>
                </a:solidFill>
                <a:latin typeface="Helvetica Neue"/>
              </a:rPr>
              <a:t>Retrieval-Augmented Generation grounds the LLM's answer in a curated knowledge base — eliminating hallucinations and enabling domain-specific Q&amp;A without any retraining.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697480" cy="3291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697480" cy="54864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63240"/>
            <a:ext cx="23957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Documents are chunked, embedded
and stored in a vector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2103120"/>
            <a:ext cx="2697480" cy="3291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0712" y="2103120"/>
            <a:ext cx="2697480" cy="54864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063240"/>
            <a:ext cx="23957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Query is embedded and the top-K
most similar chunks are fetched.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2103120"/>
            <a:ext cx="2697480" cy="3291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18504" y="2103120"/>
            <a:ext cx="2697480" cy="54864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AUGMENT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063240"/>
            <a:ext cx="23957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Chunks are injected into the
LLM prompt as grounding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474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2103120"/>
            <a:ext cx="2697480" cy="3291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26296" y="2103120"/>
            <a:ext cx="2697480" cy="54864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2212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3063240"/>
            <a:ext cx="23957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LLM answers using ONLY the
provided context — no guessing.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Helvetica Neue"/>
              </a:rPr>
              <a:t>Original paper: Lewis et al. (2020) — Retrieval-Augmented Generation for Knowledge-Intensive NLP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46A"/>
                </a:solidFill>
                <a:latin typeface="Helvetica Neue"/>
              </a:rPr>
              <a:t>INDEXING  (offline)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46888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4688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</a:rPr>
              <a:t>Documents
(PDF / TXT)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9202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246888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508760"/>
            <a:ext cx="24688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2763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</a:rPr>
              <a:t>Chunker
500 chars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19202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508760"/>
            <a:ext cx="246888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79" y="1508760"/>
            <a:ext cx="24688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62763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</a:rPr>
              <a:t>Embeddings
MiniLM-L6-v2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9202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399" y="1508760"/>
            <a:ext cx="246888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399" y="1508760"/>
            <a:ext cx="24688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59" y="162763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</a:rPr>
              <a:t>ChromaDB
vector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46A"/>
                </a:solidFill>
                <a:latin typeface="Helvetica Neue"/>
              </a:rPr>
              <a:t>QUERYING  (online)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01168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20116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User
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9776" y="3200400"/>
            <a:ext cx="201168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79776" y="3200400"/>
            <a:ext cx="20116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71216" y="331927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Embed
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10912" y="3200400"/>
            <a:ext cx="201168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10912" y="3200400"/>
            <a:ext cx="20116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02351" y="331927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Cosine
Similarity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3200400"/>
            <a:ext cx="201168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42048" y="3200400"/>
            <a:ext cx="20116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33488" y="331927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Top-K
Chunks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46A"/>
                </a:solidFill>
                <a:latin typeface="Helvetica Neue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73184" y="3200400"/>
            <a:ext cx="2011680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73184" y="3200400"/>
            <a:ext cx="20116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64624" y="331927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 Neue"/>
              </a:rPr>
              <a:t>LLM
Answer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ourier New"/>
              </a:rPr>
              <a:t>  Prompt template:  "Answer ONLY from this context: {retrieved chunks}  ·  Question: {user question}"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527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Document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527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LangChain — PyPDFLoader, TextLoader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92807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025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Text Splitting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025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RecursiveCharacterTextSplitter  (chunk=500, overlap=50)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42615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523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523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sentence-transformers/all-MiniLM-L6-v2  ·  384-dim vectors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92424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02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ChromaDB  ·  local persistent storage  ·  cosine similarity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42231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LLM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519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Ollama (llama3.2 — local/free)  or  OpenAI GPT  or  retrieval-only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001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01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LangChain  ·  ChatPromptTemplate  ·  LCEL chains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41848"/>
            <a:ext cx="11064240" cy="6583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7515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46A"/>
                </a:solidFill>
                <a:latin typeface="Helvetica Neue"/>
              </a:rPr>
              <a:t>Web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75157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Gradio 4  ·  http://localhost:7860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17 documents indexed  ·  13 course lecture PDFs  +  4 supplementary texts  ·  ChromaDB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COURSE LECTURES  (PDF)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1109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11095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Course Introduction &amp;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31136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677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Machine Learning Fundamentals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7752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624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243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Neural Networks &amp; Backpropagation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9809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809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Convolutional Neural Networks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00984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337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Object Detection — R-CNN family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694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6941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Object Detection — YOLO &amp; SSD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14215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0507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05079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Instance Segmentation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0831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40740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07407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Recurrent Networks &amp; Sequence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27448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7640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76402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Transformers &amp; Attention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84064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51206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120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Large Language Models &amp;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40680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54772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4772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Generative Models — GAN &amp; VAE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97296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" y="58338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338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Anomaly Detection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153912"/>
            <a:ext cx="5577840" cy="3200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61904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Lecture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61904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Pose Estimation &amp;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46A"/>
                </a:solidFill>
                <a:latin typeface="Helvetica Neue"/>
              </a:rPr>
              <a:t>SUPPLEMENTARY TEXTS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1874519"/>
            <a:ext cx="5394960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92240" y="1874519"/>
            <a:ext cx="54864" cy="105156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deep_learning_fundamentals.txt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23774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Helvetica Neue"/>
              </a:rPr>
              <a:t>ANNs · Backprop · Activations · Optimizers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063239"/>
            <a:ext cx="5394960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92240" y="3063239"/>
            <a:ext cx="54864" cy="105156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31546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transformers_and_llms.txt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3566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Helvetica Neue"/>
              </a:rPr>
              <a:t>BERT · GPT · RAG · Fine-tuning · LoRA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4251960"/>
            <a:ext cx="5394960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92240" y="4251960"/>
            <a:ext cx="54864" cy="105156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0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computer_vision_and_object_detection.txt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Helvetica Neue"/>
              </a:rPr>
              <a:t>CNNs · YOLO · Segmentation · Tracking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5440680"/>
            <a:ext cx="5394960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92240" y="5440680"/>
            <a:ext cx="54864" cy="105156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5532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anomaly_detection_and_generative_models.txt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5943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Helvetica Neue"/>
              </a:rPr>
              <a:t>Autoencoders · VAE · GAN · Diffusion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Helvetica Neue"/>
              </a:rPr>
              <a:t>Web interface at  http://127.0.0.1:7860  (Gradio)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46A"/>
                </a:solidFill>
                <a:latin typeface="Helvetica Neue"/>
              </a:rPr>
              <a:t>Example questions asked: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"What is self-attention and how does it work?"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"How does YOLO detect objects in an image?"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36976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"What is the difference between VAE and GAN?"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95344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9684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"How do autoencoders detect anomalies?"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53712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62686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"What is LoRA fine-tuning and why is it efficient?"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79"/>
            <a:ext cx="7772400" cy="53035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285231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urier New"/>
              </a:rPr>
              <a:t>  "What metrics are used to evaluate object detection?"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508760"/>
            <a:ext cx="3200400" cy="4663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95360" y="1508760"/>
            <a:ext cx="320040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16002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UI Features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888888"/>
              </a:solidFill>
              <a:latin typeface="Helvetica Neue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→  Top-K slider (1–8)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→  Source citations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→  Relevance scores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→  Full context toggle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→  Example questions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888888"/>
              </a:solidFill>
              <a:latin typeface="Helvetica Neue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LLM backend swappable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via .env — no code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6974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C46A"/>
                </a:solidFill>
                <a:latin typeface="Helvetica Neue"/>
              </a:rPr>
              <a:t>73+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Helvetica Neue"/>
              </a:rPr>
              <a:t>chunks indexed
across 17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188720"/>
            <a:ext cx="269748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188720"/>
            <a:ext cx="26974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3716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C46A"/>
                </a:solidFill>
                <a:latin typeface="Helvetica Neue"/>
              </a:rPr>
              <a:t>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031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Helvetica Neue"/>
              </a:rPr>
              <a:t>embedding dimensions
(MiniLM-L6-v2)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188720"/>
            <a:ext cx="269748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64224" y="1188720"/>
            <a:ext cx="26974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3716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C46A"/>
                </a:solidFill>
                <a:latin typeface="Helvetica Neue"/>
              </a:rPr>
              <a:t>~18s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1031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Helvetica Neue"/>
              </a:rPr>
              <a:t>total ingestion time
incl. embedding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1188720"/>
            <a:ext cx="269748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72016" y="1188720"/>
            <a:ext cx="2697480" cy="4572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9176" y="13716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C46A"/>
                </a:solidFill>
                <a:latin typeface="Helvetica Neue"/>
              </a:rPr>
              <a:t>&lt; 1s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1031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Helvetica Neue"/>
              </a:rPr>
              <a:t>query response time
(retrieval-only mode)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Key Benefits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110642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54864" cy="54864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7764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No hallucinations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7764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Helvetica Neue"/>
              </a:rPr>
              <a:t>Answers are grounded exclusively in the provided documents.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61688"/>
            <a:ext cx="110642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61688"/>
            <a:ext cx="54864" cy="54864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434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No retraining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434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Helvetica Neue"/>
              </a:rPr>
              <a:t>Add new PDFs and re-index in seconds — no GPU required.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20056"/>
            <a:ext cx="110642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020056"/>
            <a:ext cx="54864" cy="54864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5093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Transparent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0932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Helvetica Neue"/>
              </a:rPr>
              <a:t>Every answer shows which source file and chunk it came from.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678424"/>
            <a:ext cx="110642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678424"/>
            <a:ext cx="54864" cy="54864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57515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Flexible LLM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7515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Helvetica Neue"/>
              </a:rPr>
              <a:t>Swap between Ollama, OpenAI, or retrieval-only via one config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274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2A2A"/>
                </a:solidFill>
                <a:latin typeface="Helvetica Neue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  <a:latin typeface="Helvetica Neue"/>
              </a:rPr>
              <a:t>RAG is a powerful, practical technique that bridges the gap between
general-purpose LLMs and domain-specific knowledge — without fine-tuning.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110642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4864" cy="621792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  Retrieval decouples knowledge from model weights — update the DB, not the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98648"/>
            <a:ext cx="110642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54864" cy="621792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  sentence-transformers provide strong semantic search with minimal compute.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48456"/>
            <a:ext cx="110642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648456"/>
            <a:ext cx="54864" cy="621792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  ChromaDB enables a fully local, zero-cost vector store.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98264"/>
            <a:ext cx="110642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398264"/>
            <a:ext cx="54864" cy="621792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988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  The same pipeline scales to thousands of PDFs with no architectural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48072"/>
            <a:ext cx="11064240" cy="62179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148072"/>
            <a:ext cx="54864" cy="621792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248656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  Switching LLM backends (Ollama ↔ OpenAI) requires changing one config 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Helvetica Neue"/>
              </a:rPr>
              <a:t>Lewis et al. (2020) · Vaswani et al. (2017) · LangChain · ChromaDB · Ollama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Helvetica Neu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8888"/>
                </a:solidFill>
                <a:latin typeface="Helvetica Neue"/>
              </a:rPr>
              <a:t>Deep Learning Knowledge Base — RAG Q&amp;A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Helvetica Neue"/>
              </a:rPr>
              <a:t>TIES 4911  ·  MiniProject Option 7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5508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smtClean="0">
                <a:solidFill>
                  <a:srgbClr val="0E0E0E"/>
                </a:solidFill>
                <a:latin typeface="Helvetica Neue"/>
              </a:rPr>
              <a:t> </a:t>
            </a:r>
            <a:r>
              <a:rPr sz="1300" b="1" i="0">
                <a:solidFill>
                  <a:srgbClr val="0E0E0E"/>
                </a:solidFill>
                <a:latin typeface="Helvetica Neue"/>
              </a:rPr>
              <a:t>Amine </a:t>
            </a:r>
            <a:r>
              <a:rPr sz="1300" b="1" i="0" dirty="0" err="1">
                <a:solidFill>
                  <a:srgbClr val="0E0E0E"/>
                </a:solidFill>
                <a:latin typeface="Helvetica Neue"/>
              </a:rPr>
              <a:t>Bahous</a:t>
            </a:r>
            <a:endParaRPr sz="1300" b="1" i="0" dirty="0">
              <a:solidFill>
                <a:srgbClr val="0E0E0E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690</Words>
  <Application>Microsoft Office PowerPoint</Application>
  <PresentationFormat>Özel</PresentationFormat>
  <Paragraphs>159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Helvetica Neue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2026-05-14T17:42:53Z</dcterms:modified>
  <cp:category/>
</cp:coreProperties>
</file>