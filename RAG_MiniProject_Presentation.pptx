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88"/>
                </a:solidFill>
                <a:latin typeface="Helvetica Neue"/>
              </a:rPr>
              <a:t>TIES 4911  ·  2026  ·  MiniProject Option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20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Helvetica Neue"/>
              </a:rPr>
              <a:t>RAG Q&amp;A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8C46A"/>
                </a:solidFill>
                <a:latin typeface="Helvetica Neue"/>
              </a:rPr>
              <a:t>Deep Learning Knowledge Base
with Retrieval-Augmented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Amine Bahous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2743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2A2A2A"/>
                </a:solidFill>
                <a:latin typeface="Helvetica Neu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Helvetica Neue"/>
              </a:rPr>
              <a:t>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" cy="36576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10789920" cy="132588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64008" cy="132588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C46A"/>
                </a:solidFill>
                <a:latin typeface="Helvetica Neue"/>
              </a:rPr>
              <a:t>Outdated knowledge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8888"/>
                </a:solidFill>
                <a:latin typeface="Helvetica Neue"/>
              </a:rPr>
              <a:t>LLMs have a training cutoff — they cannot answer about recent or domain-specific topics.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34639"/>
            <a:ext cx="10789920" cy="132588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834639"/>
            <a:ext cx="64008" cy="132588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944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C46A"/>
                </a:solidFill>
                <a:latin typeface="Helvetica Neue"/>
              </a:rPr>
              <a:t>Hallucinations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79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8888"/>
                </a:solidFill>
                <a:latin typeface="Helvetica Neue"/>
              </a:rPr>
              <a:t>Models confidently generate plausible but incorrect information with no grounding.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10789920" cy="132588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389120"/>
            <a:ext cx="64008" cy="132588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9884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C46A"/>
                </a:solidFill>
                <a:latin typeface="Helvetica Neue"/>
              </a:rPr>
              <a:t>No domain adaptation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37759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8888"/>
                </a:solidFill>
                <a:latin typeface="Helvetica Neue"/>
              </a:rPr>
              <a:t>General-purpose LLMs lack expertise in specialized fields without expensive retraining.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2743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2A2A2A"/>
                </a:solidFill>
                <a:latin typeface="Helvetica Neue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Helvetica Neue"/>
              </a:rPr>
              <a:t>Solution —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" cy="36576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888888"/>
                </a:solidFill>
                <a:latin typeface="Helvetica Neue"/>
              </a:rPr>
              <a:t>Retrieval-Augmented Generation grounds the LLM's answer in a curated knowledge base — eliminating hallucinations and enabling domain-specific Q&amp;A without any retraining.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03120"/>
            <a:ext cx="2697480" cy="32918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2697480" cy="54864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128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514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Helvetica Neue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063240"/>
            <a:ext cx="23957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Documents are chunked, embedded
and stored in a vector database.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4747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8C46A"/>
                </a:solidFill>
                <a:latin typeface="Helvetica Neue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0712" y="2103120"/>
            <a:ext cx="2697480" cy="32918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10712" y="2103120"/>
            <a:ext cx="2697480" cy="54864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22128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5304" y="2514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Helvetica Neue"/>
              </a:rPr>
              <a:t>RETRIEVE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3063240"/>
            <a:ext cx="23957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Query is embedded and the top-K
most similar chunks are fetched.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34747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8C46A"/>
                </a:solidFill>
                <a:latin typeface="Helvetica Neue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18504" y="2103120"/>
            <a:ext cx="2697480" cy="32918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18504" y="2103120"/>
            <a:ext cx="2697480" cy="54864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22128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514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Helvetica Neue"/>
              </a:rPr>
              <a:t>AUGMENT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3063240"/>
            <a:ext cx="23957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Chunks are injected into the
LLM prompt as grounding context.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1704" y="34747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8C46A"/>
                </a:solidFill>
                <a:latin typeface="Helvetica Neue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26296" y="2103120"/>
            <a:ext cx="2697480" cy="32918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26296" y="2103120"/>
            <a:ext cx="2697480" cy="54864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3456" y="22128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0888" y="2514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Helvetica Neue"/>
              </a:rPr>
              <a:t>GENERATE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0888" y="3063240"/>
            <a:ext cx="23957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LLM answers using ONLY the
provided context — no guessing.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  <a:latin typeface="Helvetica Neue"/>
              </a:rPr>
              <a:t>Original paper: Lewis et al. (2020) — Retrieval-Augmented Generation for Knowledge-Intensive NLP Tasks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2743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2A2A2A"/>
                </a:solidFill>
                <a:latin typeface="Helvetica Neue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Helvetica Neue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" cy="36576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C46A"/>
                </a:solidFill>
                <a:latin typeface="Helvetica Neue"/>
              </a:rPr>
              <a:t>INDEXING  (offline)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2468880" cy="10058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2468880" cy="4572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27632"/>
            <a:ext cx="2194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Helvetica Neue"/>
              </a:rPr>
              <a:t>Documents
(PDF / TXT)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1920240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8C46A"/>
                </a:solidFill>
                <a:latin typeface="Helvetica Neue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508760"/>
            <a:ext cx="2468880" cy="10058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508760"/>
            <a:ext cx="2468880" cy="4572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27632"/>
            <a:ext cx="2194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Helvetica Neue"/>
              </a:rPr>
              <a:t>Chunker
500 chars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1920240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8C46A"/>
                </a:solidFill>
                <a:latin typeface="Helvetica Neue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508760"/>
            <a:ext cx="2468880" cy="10058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79" y="1508760"/>
            <a:ext cx="2468880" cy="4572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627632"/>
            <a:ext cx="2194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Helvetica Neue"/>
              </a:rPr>
              <a:t>Embeddings
MiniLM-L6-v2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1920240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8C46A"/>
                </a:solidFill>
                <a:latin typeface="Helvetica Neue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399" y="1508760"/>
            <a:ext cx="2468880" cy="10058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5399" y="1508760"/>
            <a:ext cx="2468880" cy="4572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59" y="1627632"/>
            <a:ext cx="2194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Helvetica Neue"/>
              </a:rPr>
              <a:t>ChromaDB
vector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834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C46A"/>
                </a:solidFill>
                <a:latin typeface="Helvetica Neue"/>
              </a:rPr>
              <a:t>QUERYING  (online)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200400"/>
            <a:ext cx="2011680" cy="9144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200400"/>
            <a:ext cx="2011680" cy="4572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31927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Helvetica Neue"/>
              </a:rPr>
              <a:t>User
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78608" y="356616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C46A"/>
                </a:solidFill>
                <a:latin typeface="Helvetica Neue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79776" y="3200400"/>
            <a:ext cx="2011680" cy="9144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79776" y="3200400"/>
            <a:ext cx="2011680" cy="4572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71216" y="331927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Helvetica Neue"/>
              </a:rPr>
              <a:t>Embed
Query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9744" y="356616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C46A"/>
                </a:solidFill>
                <a:latin typeface="Helvetica Neue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10912" y="3200400"/>
            <a:ext cx="2011680" cy="9144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10912" y="3200400"/>
            <a:ext cx="2011680" cy="4572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02351" y="331927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Helvetica Neue"/>
              </a:rPr>
              <a:t>Cosine
Similarity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79" y="356616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C46A"/>
                </a:solidFill>
                <a:latin typeface="Helvetica Neue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42048" y="3200400"/>
            <a:ext cx="2011680" cy="9144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42048" y="3200400"/>
            <a:ext cx="2011680" cy="4572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33488" y="331927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Helvetica Neue"/>
              </a:rPr>
              <a:t>Top-K
Chunks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2016" y="356616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C46A"/>
                </a:solidFill>
                <a:latin typeface="Helvetica Neue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73184" y="3200400"/>
            <a:ext cx="2011680" cy="9144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73184" y="3200400"/>
            <a:ext cx="2011680" cy="4572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64624" y="331927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Helvetica Neue"/>
              </a:rPr>
              <a:t>LLM
Answer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343400"/>
            <a:ext cx="11064240" cy="82296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44622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88"/>
                </a:solidFill>
                <a:latin typeface="Courier New"/>
              </a:rPr>
              <a:t>  Prompt template:  "Answer ONLY from this context: {retrieved chunks}  ·  Question: {user question}"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2743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2A2A2A"/>
                </a:solidFill>
                <a:latin typeface="Helvetica Neue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Helvetica Neue"/>
              </a:rPr>
              <a:t>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" cy="36576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11064240" cy="658368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C46A"/>
                </a:solidFill>
                <a:latin typeface="Helvetica Neue"/>
              </a:rPr>
              <a:t>Document 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25272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LangChain — PyPDFLoader, TextLoader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92807"/>
            <a:ext cx="11064240" cy="658368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0253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C46A"/>
                </a:solidFill>
                <a:latin typeface="Helvetica Neue"/>
              </a:rPr>
              <a:t>Text Splitting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002536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RecursiveCharacterTextSplitter  (chunk=500, overlap=50)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42615"/>
            <a:ext cx="11064240" cy="658368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52344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C46A"/>
                </a:solidFill>
                <a:latin typeface="Helvetica Neue"/>
              </a:rPr>
              <a:t>Embeddings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752344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sentence-transformers/all-MiniLM-L6-v2  ·  384-dim vectors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92424"/>
            <a:ext cx="11064240" cy="658368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50215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C46A"/>
                </a:solidFill>
                <a:latin typeface="Helvetica Neue"/>
              </a:rPr>
              <a:t>Vector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50215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ChromaDB  ·  local persistent storage  ·  cosine similarity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42231"/>
            <a:ext cx="11064240" cy="658368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5195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C46A"/>
                </a:solidFill>
                <a:latin typeface="Helvetica Neue"/>
              </a:rPr>
              <a:t>LLM Backend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251959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Ollama (llama3.2 — local/free)  or  OpenAI GPT  or  retrieval-only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92040"/>
            <a:ext cx="11064240" cy="658368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0017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C46A"/>
                </a:solidFill>
                <a:latin typeface="Helvetica Neue"/>
              </a:rPr>
              <a:t>Orchestration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500176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LangChain  ·  ChatPromptTemplate  ·  LCEL chains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641848"/>
            <a:ext cx="11064240" cy="658368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75157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C46A"/>
                </a:solidFill>
                <a:latin typeface="Helvetica Neue"/>
              </a:rPr>
              <a:t>Web 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751576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Gradio 4  ·  http://localhost:7860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2743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2A2A2A"/>
                </a:solidFill>
                <a:latin typeface="Helvetica Neue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Helvetica Neue"/>
              </a:rPr>
              <a:t>Knowledge 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" cy="36576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17 documents indexed  ·  13 course lecture PDFs  +  4 supplementary texts  ·  ChromaDB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COURSE LECTURES  (PDF)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577840" cy="3200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1109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Lecture 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911095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Helvetica Neue"/>
              </a:rPr>
              <a:t>Course Introduction &amp; Overview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31136"/>
            <a:ext cx="5577840" cy="3200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26771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Lecture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26771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Helvetica Neue"/>
              </a:rPr>
              <a:t>Machine Learning Fundamentals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87752"/>
            <a:ext cx="5577840" cy="3200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243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Lecture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2432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Helvetica Neue"/>
              </a:rPr>
              <a:t>Neural Networks &amp; Backpropagation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44368"/>
            <a:ext cx="5577840" cy="3200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98094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Lecture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980944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Helvetica Neue"/>
              </a:rPr>
              <a:t>Convolutional Neural Networks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300984"/>
            <a:ext cx="5577840" cy="3200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3375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Lecture 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3337560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Helvetica Neue"/>
              </a:rPr>
              <a:t>Object Detection — R-CNN family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657600"/>
            <a:ext cx="5577840" cy="3200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69417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Lecture 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69417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Helvetica Neue"/>
              </a:rPr>
              <a:t>Object Detection — YOLO &amp; SSD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14215"/>
            <a:ext cx="5577840" cy="3200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05079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Lecture 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4050791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Helvetica Neue"/>
              </a:rPr>
              <a:t>Instance Segmentation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70831"/>
            <a:ext cx="5577840" cy="3200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4074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Lecture 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407407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Helvetica Neue"/>
              </a:rPr>
              <a:t>Recurrent Networks &amp; Sequence Models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727448"/>
            <a:ext cx="5577840" cy="3200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76402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Lecture 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0" y="4764024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Helvetica Neue"/>
              </a:rPr>
              <a:t>Transformers &amp; Attention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84064"/>
            <a:ext cx="5577840" cy="3200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1206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Lecture 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5120640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Helvetica Neue"/>
              </a:rPr>
              <a:t>Large Language Models &amp; RAG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440680"/>
            <a:ext cx="5577840" cy="3200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47725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Lecture 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11680" y="547725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Helvetica Neue"/>
              </a:rPr>
              <a:t>Generative Models — GAN &amp; VAE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797296"/>
            <a:ext cx="5577840" cy="3200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83387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Lecture 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11680" y="583387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Helvetica Neue"/>
              </a:rPr>
              <a:t>Anomaly Detection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6153912"/>
            <a:ext cx="5577840" cy="3200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19048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Lecture 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11680" y="619048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Helvetica Neue"/>
              </a:rPr>
              <a:t>Pose Estimation &amp; Tracking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46A"/>
                </a:solidFill>
                <a:latin typeface="Helvetica Neue"/>
              </a:rPr>
              <a:t>SUPPLEMENTARY TEXTS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40" y="1874519"/>
            <a:ext cx="5394960" cy="10515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92240" y="1874519"/>
            <a:ext cx="54864" cy="105156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19659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ourier New"/>
              </a:rPr>
              <a:t>deep_learning_fundamentals.txt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0" y="237743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  <a:latin typeface="Helvetica Neue"/>
              </a:rPr>
              <a:t>ANNs · Backprop · Activations · Optimizers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3063239"/>
            <a:ext cx="5394960" cy="10515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92240" y="3063239"/>
            <a:ext cx="54864" cy="105156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0" y="315467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ourier New"/>
              </a:rPr>
              <a:t>transformers_and_llms.txt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75120" y="35661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  <a:latin typeface="Helvetica Neue"/>
              </a:rPr>
              <a:t>BERT · GPT · RAG · Fine-tuning · LoRA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92240" y="4251960"/>
            <a:ext cx="5394960" cy="10515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92240" y="4251960"/>
            <a:ext cx="54864" cy="105156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75120" y="43434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ourier New"/>
              </a:rPr>
              <a:t>computer_vision_and_object_detection.txt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4754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  <a:latin typeface="Helvetica Neue"/>
              </a:rPr>
              <a:t>CNNs · YOLO · Segmentation · Tracking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92240" y="5440680"/>
            <a:ext cx="5394960" cy="10515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92240" y="5440680"/>
            <a:ext cx="54864" cy="105156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75120" y="55321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ourier New"/>
              </a:rPr>
              <a:t>anomaly_detection_and_generative_models.txt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75120" y="59436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  <a:latin typeface="Helvetica Neue"/>
              </a:rPr>
              <a:t>Autoencoders · VAE · GAN · Diffusion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2743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2A2A2A"/>
                </a:solidFill>
                <a:latin typeface="Helvetica Neue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Helvetica Neue"/>
              </a:rPr>
              <a:t>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" cy="36576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Helvetica Neue"/>
              </a:rPr>
              <a:t>Web interface at  http://127.0.0.1:7860  (Gradio)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C46A"/>
                </a:solidFill>
                <a:latin typeface="Helvetica Neue"/>
              </a:rPr>
              <a:t>Example questions asked: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7772400" cy="53035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ourier New"/>
              </a:rPr>
              <a:t>  "What is self-attention and how does it work?"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78608"/>
            <a:ext cx="7772400" cy="53035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ourier New"/>
              </a:rPr>
              <a:t>  "How does YOLO detect objects in an image?"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36976"/>
            <a:ext cx="7772400" cy="53035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1012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ourier New"/>
              </a:rPr>
              <a:t>  "What is the difference between VAE and GAN?"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95344"/>
            <a:ext cx="7772400" cy="53035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96849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ourier New"/>
              </a:rPr>
              <a:t>  "How do autoencoders detect anomalies?"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553712"/>
            <a:ext cx="7772400" cy="53035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626864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ourier New"/>
              </a:rPr>
              <a:t>  "What is LoRA fine-tuning and why is it efficient?"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12079"/>
            <a:ext cx="7772400" cy="53035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285231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ourier New"/>
              </a:rPr>
              <a:t>  "What metrics are used to evaluate object detection?"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5360" y="1508760"/>
            <a:ext cx="3200400" cy="466344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508760"/>
            <a:ext cx="3200400" cy="4572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16002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88888"/>
                </a:solidFill>
                <a:latin typeface="Helvetica Neue"/>
              </a:rPr>
              <a:t>UI Features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888888"/>
                </a:solidFill>
                <a:latin typeface="Helvetica Neue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888888"/>
                </a:solidFill>
                <a:latin typeface="Helvetica Neue"/>
              </a:rPr>
              <a:t>→  Top-K slider (1–8)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888888"/>
                </a:solidFill>
                <a:latin typeface="Helvetica Neue"/>
              </a:rPr>
              <a:t>→  Source citations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888888"/>
                </a:solidFill>
                <a:latin typeface="Helvetica Neue"/>
              </a:rPr>
              <a:t>→  Relevance scores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888888"/>
                </a:solidFill>
                <a:latin typeface="Helvetica Neue"/>
              </a:rPr>
              <a:t>→  Full context toggle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888888"/>
                </a:solidFill>
                <a:latin typeface="Helvetica Neue"/>
              </a:rPr>
              <a:t>→  Example questions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888888"/>
                </a:solidFill>
                <a:latin typeface="Helvetica Neue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888888"/>
                </a:solidFill>
                <a:latin typeface="Helvetica Neue"/>
              </a:rPr>
              <a:t>LLM backend swappable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888888"/>
                </a:solidFill>
                <a:latin typeface="Helvetica Neue"/>
              </a:rPr>
              <a:t>via .env — no code change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2743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2A2A2A"/>
                </a:solidFill>
                <a:latin typeface="Helvetica Neue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Helvetica Neue"/>
              </a:rPr>
              <a:t>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" cy="36576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2697480" cy="18288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2697480" cy="4572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423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E8C46A"/>
                </a:solidFill>
                <a:latin typeface="Helvetica Neue"/>
              </a:rPr>
              <a:t>73+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2423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8888"/>
                </a:solidFill>
                <a:latin typeface="Helvetica Neue"/>
              </a:rPr>
              <a:t>chunks indexed
across 17 documents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1188720"/>
            <a:ext cx="2697480" cy="18288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1188720"/>
            <a:ext cx="2697480" cy="4572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371600"/>
            <a:ext cx="2423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E8C46A"/>
                </a:solidFill>
                <a:latin typeface="Helvetica Neue"/>
              </a:rPr>
              <a:t>384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03120"/>
            <a:ext cx="2423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8888"/>
                </a:solidFill>
                <a:latin typeface="Helvetica Neue"/>
              </a:rPr>
              <a:t>embedding dimensions
(MiniLM-L6-v2)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4224" y="1188720"/>
            <a:ext cx="2697480" cy="18288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64224" y="1188720"/>
            <a:ext cx="2697480" cy="4572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371600"/>
            <a:ext cx="2423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E8C46A"/>
                </a:solidFill>
                <a:latin typeface="Helvetica Neue"/>
              </a:rPr>
              <a:t>~18s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2103120"/>
            <a:ext cx="2423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8888"/>
                </a:solidFill>
                <a:latin typeface="Helvetica Neue"/>
              </a:rPr>
              <a:t>total ingestion time
incl. embedding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2016" y="1188720"/>
            <a:ext cx="2697480" cy="18288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72016" y="1188720"/>
            <a:ext cx="2697480" cy="4572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1371600"/>
            <a:ext cx="2423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E8C46A"/>
                </a:solidFill>
                <a:latin typeface="Helvetica Neue"/>
              </a:rPr>
              <a:t>&lt; 1s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2103120"/>
            <a:ext cx="2423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8888"/>
                </a:solidFill>
                <a:latin typeface="Helvetica Neue"/>
              </a:rPr>
              <a:t>query response time
(retrieval-only mode)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246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Helvetica Neue"/>
              </a:rPr>
              <a:t>Key Benefits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03320"/>
            <a:ext cx="11064240" cy="5486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703320"/>
            <a:ext cx="54864" cy="54864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Helvetica Neue"/>
              </a:rPr>
              <a:t>No hallucinations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377647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88"/>
                </a:solidFill>
                <a:latin typeface="Helvetica Neue"/>
              </a:rPr>
              <a:t>Answers are grounded exclusively in the provided documents.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361688"/>
            <a:ext cx="11064240" cy="5486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361688"/>
            <a:ext cx="54864" cy="54864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44348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Helvetica Neue"/>
              </a:rPr>
              <a:t>No retraining needed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43484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88"/>
                </a:solidFill>
                <a:latin typeface="Helvetica Neue"/>
              </a:rPr>
              <a:t>Add new PDFs and re-index in seconds — no GPU required.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020056"/>
            <a:ext cx="11064240" cy="5486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5020056"/>
            <a:ext cx="54864" cy="54864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0932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Helvetica Neue"/>
              </a:rPr>
              <a:t>Transparent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5093208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88"/>
                </a:solidFill>
                <a:latin typeface="Helvetica Neue"/>
              </a:rPr>
              <a:t>Every answer shows which source file and chunk it came from.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78424"/>
            <a:ext cx="11064240" cy="5486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78424"/>
            <a:ext cx="54864" cy="54864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75157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Helvetica Neue"/>
              </a:rPr>
              <a:t>Flexible LLM backend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80" y="5751576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88"/>
                </a:solidFill>
                <a:latin typeface="Helvetica Neue"/>
              </a:rPr>
              <a:t>Swap between Ollama, OpenAI, or retrieval-only via one config 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2743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2A2A2A"/>
                </a:solidFill>
                <a:latin typeface="Helvetica Neue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Helvetica Neue"/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" cy="36576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88888"/>
                </a:solidFill>
                <a:latin typeface="Helvetica Neue"/>
              </a:rPr>
              <a:t>RAG is a powerful, practical technique that bridges the gap between
general-purpose LLMs and domain-specific knowledge — without fine-tuning.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11064240" cy="62179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54864" cy="621792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9424"/>
            <a:ext cx="10789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Helvetica Neue"/>
              </a:rPr>
              <a:t>  Retrieval decouples knowledge from model weights — update the DB, not the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98648"/>
            <a:ext cx="11064240" cy="62179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54864" cy="621792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9232"/>
            <a:ext cx="10789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Helvetica Neue"/>
              </a:rPr>
              <a:t>  sentence-transformers provide strong semantic search with minimal compute.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48456"/>
            <a:ext cx="11064240" cy="62179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648456"/>
            <a:ext cx="54864" cy="621792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49040"/>
            <a:ext cx="10789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Helvetica Neue"/>
              </a:rPr>
              <a:t>  ChromaDB enables a fully local, zero-cost vector store.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98264"/>
            <a:ext cx="11064240" cy="62179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398264"/>
            <a:ext cx="54864" cy="621792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98848"/>
            <a:ext cx="10789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Helvetica Neue"/>
              </a:rPr>
              <a:t>  The same pipeline scales to thousands of PDFs with no architectural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48072"/>
            <a:ext cx="11064240" cy="621792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148072"/>
            <a:ext cx="54864" cy="621792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48656"/>
            <a:ext cx="10789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Helvetica Neue"/>
              </a:rPr>
              <a:t>  Switching LLM backends (Ollama ↔ OpenAI) requires changing one config line.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  <a:latin typeface="Helvetica Neue"/>
              </a:rPr>
              <a:t>Lewis et al. (2020) · Vaswani et al. (2017) · LangChain · ChromaDB · Ollama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E8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Helvetica Neue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88888"/>
                </a:solidFill>
                <a:latin typeface="Helvetica Neue"/>
              </a:rPr>
              <a:t>Deep Learning Knowledge Base — RAG Q&amp;A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88"/>
                </a:solidFill>
                <a:latin typeface="Helvetica Neue"/>
              </a:rPr>
              <a:t>TIES 4911  ·  MiniProject Option 7  ·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E0E0E"/>
                </a:solidFill>
                <a:latin typeface="Helvetica Neue"/>
              </a:rPr>
              <a:t>github  ·  Amine Bahous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